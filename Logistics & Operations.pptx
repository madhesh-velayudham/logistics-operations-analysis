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 Mode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Express</c:v>
                </c:pt>
                <c:pt idx="2">
                  <c:v>Next Day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24746</c:v>
                </c:pt>
                <c:pt idx="1">
                  <c:v>12681</c:v>
                </c:pt>
                <c:pt idx="2">
                  <c:v>7537</c:v>
                </c:pt>
                <c:pt idx="3">
                  <c:v>5036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abe0c75-5af4-4ec3-90b8-2b2d20bb7240}"/>
      </c:ext>
    </c:extLst>
  </c:chart>
  <c:spPr>
    <a:solidFill>
      <a:srgbClr val="0F07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Physical Store</c:v>
                </c:pt>
                <c:pt idx="1">
                  <c:v>Online</c:v>
                </c:pt>
                <c:pt idx="2">
                  <c:v>Franchise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191.69</c:v>
                </c:pt>
                <c:pt idx="1">
                  <c:v>132.26</c:v>
                </c:pt>
                <c:pt idx="2">
                  <c:v>56.06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Physical Store</c:v>
                </c:pt>
                <c:pt idx="1">
                  <c:v>Online</c:v>
                </c:pt>
                <c:pt idx="2">
                  <c:v>Franchise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97.53</c:v>
                </c:pt>
                <c:pt idx="1">
                  <c:v>67.2</c:v>
                </c:pt>
                <c:pt idx="2">
                  <c:v>28.46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 (₹L)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Physical Store</c:v>
                </c:pt>
                <c:pt idx="1">
                  <c:v>Online</c:v>
                </c:pt>
                <c:pt idx="2">
                  <c:v>Franchise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87.75</c:v>
                </c:pt>
                <c:pt idx="1">
                  <c:v>60.13</c:v>
                </c:pt>
                <c:pt idx="2">
                  <c:v>23.44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f8df986-047e-4598-b92a-7e346274f41a}"/>
      </c:ext>
    </c:extLst>
  </c:chart>
  <c:spPr>
    <a:solidFill>
      <a:srgbClr val="0F07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E9D5FF"/>
                </a:solidFill>
                <a:latin typeface="Arial" panose="020B0604020202020204"/>
              </a:rPr>
              <a:t>Avg Shipping Cost (₹) by Region</a:t>
            </a:r>
            <a:endParaRPr sz="1000" b="0" i="0" u="none" strike="noStrike">
              <a:solidFill>
                <a:srgbClr val="E9D5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Cost (₹)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</c:v>
                </c:pt>
                <c:pt idx="2">
                  <c:v>East</c:v>
                </c:pt>
                <c:pt idx="3">
                  <c:v>South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69.85</c:v>
                </c:pt>
                <c:pt idx="1">
                  <c:v>69.88</c:v>
                </c:pt>
                <c:pt idx="2">
                  <c:v>70.24</c:v>
                </c:pt>
                <c:pt idx="3">
                  <c:v>70.49</c:v>
                </c:pt>
                <c:pt idx="4">
                  <c:v>70.52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3a4a9a0-b1c7-4d1f-9acd-7a20fd06ec9a}"/>
      </c:ext>
    </c:extLst>
  </c:chart>
  <c:spPr>
    <a:solidFill>
      <a:srgbClr val="0F07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E9D5FF"/>
                </a:solidFill>
                <a:latin typeface="Arial" panose="020B0604020202020204"/>
              </a:rPr>
              <a:t>Net Profit (₹L) by Region</a:t>
            </a:r>
            <a:endParaRPr sz="1000" b="0" i="0" u="none" strike="noStrike">
              <a:solidFill>
                <a:srgbClr val="E9D5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(₹L)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North</c:v>
                </c:pt>
                <c:pt idx="2">
                  <c:v>West</c:v>
                </c:pt>
                <c:pt idx="3">
                  <c:v>East</c:v>
                </c:pt>
                <c:pt idx="4">
                  <c:v>South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16.66</c:v>
                </c:pt>
                <c:pt idx="1">
                  <c:v>33.13</c:v>
                </c:pt>
                <c:pt idx="2">
                  <c:v>33.16</c:v>
                </c:pt>
                <c:pt idx="3">
                  <c:v>33.28</c:v>
                </c:pt>
                <c:pt idx="4">
                  <c:v>41.86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9b322d0-f4bc-451c-99f2-a4a7eefba785}"/>
      </c:ext>
    </c:extLst>
  </c:chart>
  <c:spPr>
    <a:solidFill>
      <a:srgbClr val="0F07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Shipping Cost (₹K)</c:v>
                </c:pt>
              </c:strCache>
            </c:strRef>
          </c:tx>
          <c:spPr>
            <a:ln w="31750" cap="flat" cmpd="sng" algn="ctr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 cmpd="sng" algn="ctr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06B6D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298.6</c:v>
                </c:pt>
                <c:pt idx="1">
                  <c:v>268.5</c:v>
                </c:pt>
                <c:pt idx="2">
                  <c:v>295.2</c:v>
                </c:pt>
                <c:pt idx="3">
                  <c:v>296.7</c:v>
                </c:pt>
                <c:pt idx="4">
                  <c:v>295.2</c:v>
                </c:pt>
                <c:pt idx="5">
                  <c:v>293</c:v>
                </c:pt>
                <c:pt idx="6">
                  <c:v>292.6</c:v>
                </c:pt>
                <c:pt idx="7">
                  <c:v>306.1</c:v>
                </c:pt>
                <c:pt idx="8">
                  <c:v>283.6</c:v>
                </c:pt>
                <c:pt idx="9">
                  <c:v>297.2</c:v>
                </c:pt>
                <c:pt idx="10">
                  <c:v>288.9</c:v>
                </c:pt>
                <c:pt idx="11">
                  <c:v>293.3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9D5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db32914-518e-4b45-b5bb-237a730e9ff8}"/>
      </c:ext>
    </c:extLst>
  </c:chart>
  <c:spPr>
    <a:solidFill>
      <a:srgbClr val="0F07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F46E5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D1B69">
              <a:alpha val="8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3200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Logistics &amp; Operations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 Optimization &amp;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Performance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2286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320040" y="32004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5  |  Analyst: _______________  |  2024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Logistics  ·  Operations  ·  Store Performance  ·  Shipping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3017520" cy="868680"/>
          </a:xfrm>
          <a:prstGeom prst="rect">
            <a:avLst/>
          </a:prstGeom>
          <a:solidFill>
            <a:srgbClr val="4F46E5">
              <a:alpha val="70000"/>
            </a:srgbClr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097280"/>
            <a:ext cx="54864" cy="8686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4" name="Text 12"/>
          <p:cNvSpPr/>
          <p:nvPr/>
        </p:nvSpPr>
        <p:spPr>
          <a:xfrm>
            <a:off x="5852160" y="117043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52160" y="1627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286000"/>
            <a:ext cx="3017520" cy="868680"/>
          </a:xfrm>
          <a:prstGeom prst="rect">
            <a:avLst/>
          </a:prstGeom>
          <a:solidFill>
            <a:srgbClr val="4F46E5">
              <a:alpha val="70000"/>
            </a:srgbClr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286000"/>
            <a:ext cx="54864" cy="8686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8" name="Text 16"/>
          <p:cNvSpPr/>
          <p:nvPr/>
        </p:nvSpPr>
        <p:spPr>
          <a:xfrm>
            <a:off x="5852160" y="23591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₹3.8 Cr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52160" y="28163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474720"/>
            <a:ext cx="3017520" cy="868680"/>
          </a:xfrm>
          <a:prstGeom prst="rect">
            <a:avLst/>
          </a:prstGeom>
          <a:solidFill>
            <a:srgbClr val="4F46E5">
              <a:alpha val="70000"/>
            </a:srgbClr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474720"/>
            <a:ext cx="54864" cy="8686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2" name="Text 20"/>
          <p:cNvSpPr/>
          <p:nvPr/>
        </p:nvSpPr>
        <p:spPr>
          <a:xfrm>
            <a:off x="5852160" y="35478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52160" y="400507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 Cost Ratio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Analysis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73152" cy="9144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502920" y="9144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Core Business Challenge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SuperMart's shipping costs are consuming 9.23% of total revenue across 50,000 orders — with 48.8% of orders flagged as HIGH SHIPPING ALERT — directly eroding net profitability.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1148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0240"/>
            <a:ext cx="64008" cy="1143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438912" y="20116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Rising Shipping Costs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28600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spend of ₹35.09L burdens operational margins with no proportional revenue gain.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920240"/>
            <a:ext cx="41148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920240"/>
            <a:ext cx="64008" cy="1143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6" name="Text 14"/>
          <p:cNvSpPr/>
          <p:nvPr/>
        </p:nvSpPr>
        <p:spPr>
          <a:xfrm>
            <a:off x="4782312" y="20116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  Channel Imbalance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82312" y="228600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Stores generate 50.4% of revenue but Online channels underperform on net margin.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41148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46120"/>
            <a:ext cx="64008" cy="1143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0" name="Text 18"/>
          <p:cNvSpPr/>
          <p:nvPr/>
        </p:nvSpPr>
        <p:spPr>
          <a:xfrm>
            <a:off x="438912" y="3337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  Regional Disparities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61188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Region bears the highest average shipping cost (₹70.52/order) vs West (₹69.85).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246120"/>
            <a:ext cx="41148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246120"/>
            <a:ext cx="64008" cy="1143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4" name="Text 22"/>
          <p:cNvSpPr/>
          <p:nvPr/>
        </p:nvSpPr>
        <p:spPr>
          <a:xfrm>
            <a:off x="4782312" y="33375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Same Day Delivery ROI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2312" y="361188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Day orders cost the same to ship as Standard but generate lower absolute revenue.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7C3AED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Objective: Identify shipping cost optimization levers, benchmark store channel profitability, and deliver actionable recommendations to improve SuperMart's net logistics margin.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935" y="539877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— Key Metrics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01168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64008" cy="10058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" name="Text 6"/>
          <p:cNvSpPr/>
          <p:nvPr/>
        </p:nvSpPr>
        <p:spPr>
          <a:xfrm>
            <a:off x="365760" y="86868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FY 2022–2024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1168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77240"/>
            <a:ext cx="64008" cy="10058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/>
        </p:nvSpPr>
        <p:spPr>
          <a:xfrm>
            <a:off x="2560320" y="86868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Sales Amount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051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₹3.80 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49047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777240"/>
            <a:ext cx="201168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777240"/>
            <a:ext cx="64008" cy="10058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754880" y="86868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Shipping Deduction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051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₹1.93 Cr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49047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777240"/>
            <a:ext cx="201168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777240"/>
            <a:ext cx="64008" cy="10058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6949440" y="86868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Modes Combined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0" y="1051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₹35.09 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149047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Shipping Cost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1965960"/>
            <a:ext cx="233172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1965960"/>
            <a:ext cx="64008" cy="10058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8" name="Text 26"/>
          <p:cNvSpPr/>
          <p:nvPr/>
        </p:nvSpPr>
        <p:spPr>
          <a:xfrm>
            <a:off x="777240" y="20574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 · South · East · West · Central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22402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7240" y="26791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Regions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1965960"/>
            <a:ext cx="233172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1965960"/>
            <a:ext cx="64008" cy="10058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3" name="Text 31"/>
          <p:cNvSpPr/>
          <p:nvPr/>
        </p:nvSpPr>
        <p:spPr>
          <a:xfrm>
            <a:off x="3429000" y="20574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· Physical · Franchise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29000" y="22402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429000" y="26791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Types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1965960"/>
            <a:ext cx="2331720" cy="100584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1965960"/>
            <a:ext cx="64008" cy="100584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38" name="Text 36"/>
          <p:cNvSpPr/>
          <p:nvPr/>
        </p:nvSpPr>
        <p:spPr>
          <a:xfrm>
            <a:off x="6080760" y="20574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· Express · Next Day · Same Day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80760" y="22402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080760" y="26791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Modes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3154680"/>
            <a:ext cx="8686800" cy="137160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42" name="Text 40"/>
          <p:cNvSpPr/>
          <p:nvPr/>
        </p:nvSpPr>
        <p:spPr>
          <a:xfrm>
            <a:off x="411480" y="32186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Summary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350215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50,000 transactions spanning 3 years (2022–2024) across 5 regions and 3 store types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1480" y="380390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Avg. shipping cost per order: ₹70.18  |  Shipping Cost Ratio: 9.23%  |  Online Margin: 50.81%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10565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Standard shipping dominates with 49.5% share; Express at 25.4%; Next Day 15.1%; Same Day 10.1%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Calculation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Performance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743200" cy="640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338328" y="914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11556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₹1.58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" y="15819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(₹1.93Cr) − Shipping Cost (₹35.1L)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77724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777240"/>
            <a:ext cx="27432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/>
        </p:nvSpPr>
        <p:spPr>
          <a:xfrm>
            <a:off x="3282696" y="914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SHIPPING COST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82696" y="111556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₹70.18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82696" y="15819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order across 50,000 transactions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17336" y="77724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777240"/>
            <a:ext cx="27432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6227064" y="91440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 RATIO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27064" y="111556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27064" y="15819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 ÷ Total Revenue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10312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103120"/>
            <a:ext cx="27432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338328" y="22402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MARGIN 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8328" y="244144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8328" y="29077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Profit ÷ Online Revenue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72968" y="210312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103120"/>
            <a:ext cx="2743200" cy="64008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8" name="Text 26"/>
          <p:cNvSpPr/>
          <p:nvPr/>
        </p:nvSpPr>
        <p:spPr>
          <a:xfrm>
            <a:off x="3282696" y="22402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SHIP USAGE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82696" y="244144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49.49%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82696" y="29077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Most-used: 24,746 of 50,000 orders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17336" y="2103120"/>
            <a:ext cx="2743200" cy="11430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2103120"/>
            <a:ext cx="2743200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3" name="Text 31"/>
          <p:cNvSpPr/>
          <p:nvPr/>
        </p:nvSpPr>
        <p:spPr>
          <a:xfrm>
            <a:off x="6227064" y="22402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SHIPPING ALERT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27064" y="2441448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48.77%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27064" y="29077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24,387 orders with Shipping &gt; 15% of Sales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474720"/>
            <a:ext cx="8686800" cy="50292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37" name="Shape 35"/>
          <p:cNvSpPr/>
          <p:nvPr/>
        </p:nvSpPr>
        <p:spPr>
          <a:xfrm>
            <a:off x="228600" y="3474720"/>
            <a:ext cx="64008" cy="5029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8" name="Text 36"/>
          <p:cNvSpPr/>
          <p:nvPr/>
        </p:nvSpPr>
        <p:spPr>
          <a:xfrm>
            <a:off x="411480" y="35204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Formulas Applied: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352044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 = Profit − Shipping_Cost  |  Shipping Ratio = Shipping_Cost ÷ Revenue × 100  |  High Alert = IF((Ship/Sales) &gt; 15%, "HIGH", "NORMAL")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114800"/>
            <a:ext cx="1828800" cy="685800"/>
          </a:xfrm>
          <a:prstGeom prst="rect">
            <a:avLst/>
          </a:prstGeom>
          <a:solidFill>
            <a:srgbClr val="10B981">
              <a:alpha val="15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320040" y="416052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Net Profit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Healthy at ₹1.58Cr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48840" y="4114800"/>
            <a:ext cx="1828800" cy="68580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2240280" y="416052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 High Alert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48.8% orders at risk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69080" y="4114800"/>
            <a:ext cx="2286000" cy="685800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4160520" y="41605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Ship Cost Ratio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9.23% of total revenue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4114800"/>
            <a:ext cx="2468880" cy="685800"/>
          </a:xfrm>
          <a:prstGeom prst="rect">
            <a:avLst/>
          </a:prstGeom>
          <a:solidFill>
            <a:srgbClr val="06B6D4">
              <a:alpha val="15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537960" y="41605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Standard Ship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Largest share 49.5%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Mode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· Cost · Net Profit by Delivery Mode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68580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894455" y="777240"/>
          <a:ext cx="5120640" cy="210312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00584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Ship Mode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Ship Cost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Spend (₹)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Profit (₹)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Standard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24,746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₹70.29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17,39,442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79,16,364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Express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12,681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₹70.17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8,89,827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40,12,398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Next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7,537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₹69.67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5,25,071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23,89,757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Same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5,036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₹70.41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3,54,563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16,04,907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206240" y="3063240"/>
            <a:ext cx="1463040" cy="8229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206240" y="3063240"/>
            <a:ext cx="14630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" name="Text 6"/>
          <p:cNvSpPr/>
          <p:nvPr/>
        </p:nvSpPr>
        <p:spPr>
          <a:xfrm>
            <a:off x="4279392" y="31546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Most Used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279392" y="33558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Shipping — 49.5% of all orders (24,746)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806440" y="3063240"/>
            <a:ext cx="1463040" cy="8229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06440" y="3063240"/>
            <a:ext cx="146304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4" name="Text 10"/>
          <p:cNvSpPr/>
          <p:nvPr/>
        </p:nvSpPr>
        <p:spPr>
          <a:xfrm>
            <a:off x="5879592" y="31546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Best Net Profit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79592" y="33558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— ₹79.16L net profit (highest absolute)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406640" y="3063240"/>
            <a:ext cx="1463040" cy="8229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06640" y="3063240"/>
            <a:ext cx="146304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4"/>
          <p:cNvSpPr/>
          <p:nvPr/>
        </p:nvSpPr>
        <p:spPr>
          <a:xfrm>
            <a:off x="7479792" y="31546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Highest Avg Cost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79792" y="33558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Day — ₹70.41 avg shipping cost per order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182880" y="4069080"/>
            <a:ext cx="8778240" cy="82296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21" name="Shape 17"/>
          <p:cNvSpPr/>
          <p:nvPr/>
        </p:nvSpPr>
        <p:spPr>
          <a:xfrm>
            <a:off x="182880" y="4069080"/>
            <a:ext cx="64008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2" name="Text 18"/>
          <p:cNvSpPr/>
          <p:nvPr/>
        </p:nvSpPr>
        <p:spPr>
          <a:xfrm>
            <a:off x="365760" y="4114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5760" y="4325112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shipping is the backbone of operations — highest volume, highest net profit. Same Day delivery has higher per-order cost but lower order volume. Next Day offers the lowest avg shipping cost (₹69.67) — a potential efficiency lever for mid-urgency orders.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Type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· Profit · Net Profit Comparison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713232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777240"/>
            <a:ext cx="324612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777240"/>
            <a:ext cx="64008" cy="10972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9" name="Text 6"/>
          <p:cNvSpPr/>
          <p:nvPr/>
        </p:nvSpPr>
        <p:spPr>
          <a:xfrm>
            <a:off x="5833872" y="86868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Best Performer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33872" y="10698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Store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33872" y="1362456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₹191.69L Revenue · ₹87.75L Net Profit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0" y="2057400"/>
            <a:ext cx="324612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057400"/>
            <a:ext cx="64008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Text 11"/>
          <p:cNvSpPr/>
          <p:nvPr/>
        </p:nvSpPr>
        <p:spPr>
          <a:xfrm>
            <a:off x="5833872" y="214884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Online Channel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33872" y="23500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50.81% Margin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33872" y="2642616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₹132.26L Revenue · ₹60.13L Net Profit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3246120"/>
            <a:ext cx="324612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337560"/>
            <a:ext cx="64008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6"/>
          <p:cNvSpPr/>
          <p:nvPr/>
        </p:nvSpPr>
        <p:spPr>
          <a:xfrm>
            <a:off x="5833872" y="33375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Franchise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33872" y="35387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Weakest Channel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33872" y="3812921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₹56.06L revenue · Lowest absolute profit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82880" y="4160520"/>
            <a:ext cx="8778240" cy="713232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23" name="Shape 20"/>
          <p:cNvSpPr/>
          <p:nvPr/>
        </p:nvSpPr>
        <p:spPr>
          <a:xfrm>
            <a:off x="182880" y="4160520"/>
            <a:ext cx="64008" cy="71323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21"/>
          <p:cNvSpPr/>
          <p:nvPr/>
        </p:nvSpPr>
        <p:spPr>
          <a:xfrm>
            <a:off x="365760" y="4206240"/>
            <a:ext cx="8503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Insight: Physical Stores dominate in revenue but Online achieves near-equal profit margins (50.81%) with lower operational footprint. Franchise requires immediate margin improvement — consider renegotiating terms or optimizing product mix.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Shipping Cost Alert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Where Shipping Cost &gt; 15% of Sales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011680" cy="118872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64008" cy="1188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365760" y="841248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by IF Formula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24,387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Shipping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777240"/>
            <a:ext cx="2011680" cy="118872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777240"/>
            <a:ext cx="64008" cy="1188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2606040" y="841248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half affected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040" y="102412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48.77%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146304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of Total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2011680" cy="118872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64008" cy="1188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846320" y="841248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≤ 15% of Sales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102412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25,613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Orders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777240"/>
            <a:ext cx="2011680" cy="118872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777240"/>
            <a:ext cx="64008" cy="1188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7086600" y="841248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Net Profit Erosion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102412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₹35.09L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86600" y="146304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Shipping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217627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 Ratio by Mode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228600" y="2450592"/>
          <a:ext cx="4754880" cy="192024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97280"/>
                <a:gridCol w="822960"/>
                <a:gridCol w="7315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Ship Mode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Ship Cost (₹)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Ratio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Express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8,89,827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95,09,337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9.36%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 Normal 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Next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5,25,071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56,27,065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9.33%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 Normal 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Same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3,54,563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38,54,098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9.20%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 Normal 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Standard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17,39,442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1,90,10,071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9D5FF"/>
                          </a:solidFill>
                        </a:rPr>
                        <a:t>9.15%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</a:rPr>
                        <a:t>✅ Normal 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166360" y="2176272"/>
            <a:ext cx="3749040" cy="21945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166360" y="2176272"/>
            <a:ext cx="64008" cy="21945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7"/>
          <p:cNvSpPr/>
          <p:nvPr/>
        </p:nvSpPr>
        <p:spPr>
          <a:xfrm>
            <a:off x="5349240" y="224028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IF Formula Logic Applied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5603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=IF((Shipping_Cost / Sales_Amount) &gt; 15%,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"HIGH SHIPPING ALERT", "NORMAL")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49240" y="32004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24,387 orders flagged as HIGH SHIPPING ALERT (48.77% of all orders). These high-alert orders occur when individual item shipping cost disproportionately exceeds 15% of their sale value — typically seen in low-value / high-weight items.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28600" y="4480560"/>
            <a:ext cx="8686800" cy="41148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Action Required: Nearly half of SuperMart's orders are high-shipping-cost orders. Immediate SKU-level shipping cost review recommended for items with Shipping &gt; 15% of Sale Price.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Shipping Cost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Shipping Cost &amp; Net Profit by Region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713232"/>
          <a:ext cx="4389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713232"/>
          <a:ext cx="42976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182880" y="3291840"/>
            <a:ext cx="4206240" cy="749808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82880" y="3291840"/>
            <a:ext cx="64008" cy="7498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Text 6"/>
          <p:cNvSpPr/>
          <p:nvPr/>
        </p:nvSpPr>
        <p:spPr>
          <a:xfrm>
            <a:off x="320040" y="33649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Highest Cost Region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0040" y="358444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— ₹70.52 avg shipping cost. Most expensive to serve.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17720" y="3291840"/>
            <a:ext cx="4206240" cy="749808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3291840"/>
            <a:ext cx="64008" cy="7498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0"/>
          <p:cNvSpPr/>
          <p:nvPr/>
        </p:nvSpPr>
        <p:spPr>
          <a:xfrm>
            <a:off x="4754880" y="33649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Best Net Profit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54880" y="358444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South — ₹41.86L net profit. Largest contribution to bottom line.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82880" y="4160520"/>
            <a:ext cx="4206240" cy="749808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82880" y="4160520"/>
            <a:ext cx="64008" cy="7498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8" name="Text 14"/>
          <p:cNvSpPr/>
          <p:nvPr/>
        </p:nvSpPr>
        <p:spPr>
          <a:xfrm>
            <a:off x="320040" y="423367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Best Optimized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0040" y="44531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West — Lowest avg shipping cost (₹69.85) AND strong net profit (₹33.16L).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617720" y="4160520"/>
            <a:ext cx="4206240" cy="749808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7720" y="4160520"/>
            <a:ext cx="64008" cy="7498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18"/>
          <p:cNvSpPr/>
          <p:nvPr/>
        </p:nvSpPr>
        <p:spPr>
          <a:xfrm>
            <a:off x="4754880" y="423367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Weakest Region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754880" y="44531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— Lowest net profit (₹16.66L) despite being most expensive to ship.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Shipping Cost Trend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Seasonal Pattern &amp; Operational Concerns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713232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178040" y="777240"/>
            <a:ext cx="1737360" cy="9144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78040" y="777240"/>
            <a:ext cx="64008" cy="9144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9" name="Text 6"/>
          <p:cNvSpPr/>
          <p:nvPr/>
        </p:nvSpPr>
        <p:spPr>
          <a:xfrm>
            <a:off x="7333488" y="85039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Peak Month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33488" y="1033272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33488" y="1307592"/>
            <a:ext cx="15361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₹3.06L — Highest shipping month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1737360" cy="9144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78040" y="1828800"/>
            <a:ext cx="6400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1"/>
          <p:cNvSpPr/>
          <p:nvPr/>
        </p:nvSpPr>
        <p:spPr>
          <a:xfrm>
            <a:off x="7333488" y="190195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 Low Month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33488" y="2084832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February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33488" y="2359152"/>
            <a:ext cx="15361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₹2.68L — Lowest shipping spend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2880360"/>
            <a:ext cx="1737360" cy="9144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78040" y="2880360"/>
            <a:ext cx="64008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6"/>
          <p:cNvSpPr/>
          <p:nvPr/>
        </p:nvSpPr>
        <p:spPr>
          <a:xfrm>
            <a:off x="7333488" y="295351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Range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333488" y="3136392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₹37.6K spread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33488" y="3410712"/>
            <a:ext cx="15361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Between lowest &amp; highest month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178040" y="3931920"/>
            <a:ext cx="1737360" cy="91440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78040" y="3931920"/>
            <a:ext cx="64008" cy="9144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4" name="Text 21"/>
          <p:cNvSpPr/>
          <p:nvPr/>
        </p:nvSpPr>
        <p:spPr>
          <a:xfrm>
            <a:off x="7333488" y="400507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Stability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333488" y="4187952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Largely stable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33488" y="4462272"/>
            <a:ext cx="15361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sharp spike or decline trend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82880" y="4114800"/>
            <a:ext cx="8778240" cy="77724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28" name="Shape 25"/>
          <p:cNvSpPr/>
          <p:nvPr/>
        </p:nvSpPr>
        <p:spPr>
          <a:xfrm>
            <a:off x="182880" y="4114800"/>
            <a:ext cx="64008" cy="7772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6"/>
          <p:cNvSpPr/>
          <p:nvPr/>
        </p:nvSpPr>
        <p:spPr>
          <a:xfrm>
            <a:off x="365760" y="41605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Analysis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437083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costs are largely stable across months (₹2.68L–₹3.06L range). August shows a notable spike — possible seasonal demand surge (back-to-school/festive prep). February's low could reflect post-holiday demand dip. No sustained increasing trend, suggesting current ops are contained — but proactive planning for Aug-Oct surge period is recommended.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Day vs Standard Delivery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Efficiency · Profitability · Business Viability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383280" cy="3474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320040" y="8229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777240"/>
            <a:ext cx="2286000" cy="3474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794760" y="8229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Same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777240"/>
            <a:ext cx="2286000" cy="34747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1" name="Text 9"/>
          <p:cNvSpPr/>
          <p:nvPr/>
        </p:nvSpPr>
        <p:spPr>
          <a:xfrm>
            <a:off x="6172200" y="8229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Standard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170432"/>
            <a:ext cx="338328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13" name="Text 11"/>
          <p:cNvSpPr/>
          <p:nvPr/>
        </p:nvSpPr>
        <p:spPr>
          <a:xfrm>
            <a:off x="320040" y="126187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170432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15" name="Text 13"/>
          <p:cNvSpPr/>
          <p:nvPr/>
        </p:nvSpPr>
        <p:spPr>
          <a:xfrm>
            <a:off x="3794760" y="12618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5,036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17" name="Text 15"/>
          <p:cNvSpPr/>
          <p:nvPr/>
        </p:nvSpPr>
        <p:spPr>
          <a:xfrm>
            <a:off x="6172200" y="12618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24,746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1609344"/>
            <a:ext cx="338328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19" name="Text 17"/>
          <p:cNvSpPr/>
          <p:nvPr/>
        </p:nvSpPr>
        <p:spPr>
          <a:xfrm>
            <a:off x="320040" y="17007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(₹L)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609344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21" name="Text 19"/>
          <p:cNvSpPr/>
          <p:nvPr/>
        </p:nvSpPr>
        <p:spPr>
          <a:xfrm>
            <a:off x="3794760" y="170078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38.54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1609344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23" name="Text 21"/>
          <p:cNvSpPr/>
          <p:nvPr/>
        </p:nvSpPr>
        <p:spPr>
          <a:xfrm>
            <a:off x="6172200" y="170078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190.10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048256"/>
            <a:ext cx="338328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25" name="Text 23"/>
          <p:cNvSpPr/>
          <p:nvPr/>
        </p:nvSpPr>
        <p:spPr>
          <a:xfrm>
            <a:off x="320040" y="21396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Shipping Cost (₹L)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2048256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27" name="Text 25"/>
          <p:cNvSpPr/>
          <p:nvPr/>
        </p:nvSpPr>
        <p:spPr>
          <a:xfrm>
            <a:off x="3794760" y="21396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2048256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29" name="Text 27"/>
          <p:cNvSpPr/>
          <p:nvPr/>
        </p:nvSpPr>
        <p:spPr>
          <a:xfrm>
            <a:off x="6172200" y="21396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17.39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2487168"/>
            <a:ext cx="338328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1" name="Text 29"/>
          <p:cNvSpPr/>
          <p:nvPr/>
        </p:nvSpPr>
        <p:spPr>
          <a:xfrm>
            <a:off x="320040" y="25786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 (₹L)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2487168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3" name="Text 31"/>
          <p:cNvSpPr/>
          <p:nvPr/>
        </p:nvSpPr>
        <p:spPr>
          <a:xfrm>
            <a:off x="3794760" y="2578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16.05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487168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5" name="Text 33"/>
          <p:cNvSpPr/>
          <p:nvPr/>
        </p:nvSpPr>
        <p:spPr>
          <a:xfrm>
            <a:off x="6172200" y="2578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79.16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2926080"/>
            <a:ext cx="338328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37" name="Text 35"/>
          <p:cNvSpPr/>
          <p:nvPr/>
        </p:nvSpPr>
        <p:spPr>
          <a:xfrm>
            <a:off x="320040" y="30175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Ship Cost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03320" y="2926080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39" name="Text 37"/>
          <p:cNvSpPr/>
          <p:nvPr/>
        </p:nvSpPr>
        <p:spPr>
          <a:xfrm>
            <a:off x="3794760" y="301752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₹70.41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0760" y="2926080"/>
            <a:ext cx="2286000" cy="411480"/>
          </a:xfrm>
          <a:prstGeom prst="rect">
            <a:avLst/>
          </a:prstGeom>
          <a:solidFill>
            <a:srgbClr val="1E1050"/>
          </a:solidFill>
        </p:spPr>
      </p:sp>
      <p:sp>
        <p:nvSpPr>
          <p:cNvPr id="41" name="Text 39"/>
          <p:cNvSpPr/>
          <p:nvPr/>
        </p:nvSpPr>
        <p:spPr>
          <a:xfrm>
            <a:off x="6172200" y="301752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₹70.29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3364992"/>
            <a:ext cx="338328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43" name="Text 41"/>
          <p:cNvSpPr/>
          <p:nvPr/>
        </p:nvSpPr>
        <p:spPr>
          <a:xfrm>
            <a:off x="320040" y="34564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 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03320" y="3364992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45" name="Text 43"/>
          <p:cNvSpPr/>
          <p:nvPr/>
        </p:nvSpPr>
        <p:spPr>
          <a:xfrm>
            <a:off x="3794760" y="34564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50.84%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80760" y="3364992"/>
            <a:ext cx="2286000" cy="41148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47" name="Text 45"/>
          <p:cNvSpPr/>
          <p:nvPr/>
        </p:nvSpPr>
        <p:spPr>
          <a:xfrm>
            <a:off x="6172200" y="34564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50.79%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549640" y="777240"/>
            <a:ext cx="365760" cy="0"/>
          </a:xfrm>
          <a:prstGeom prst="rect">
            <a:avLst/>
          </a:prstGeom>
          <a:noFill/>
        </p:spPr>
      </p:sp>
      <p:sp>
        <p:nvSpPr>
          <p:cNvPr id="49" name="Shape 47"/>
          <p:cNvSpPr/>
          <p:nvPr/>
        </p:nvSpPr>
        <p:spPr>
          <a:xfrm>
            <a:off x="8549640" y="2194560"/>
            <a:ext cx="365760" cy="0"/>
          </a:xfrm>
          <a:prstGeom prst="rect">
            <a:avLst/>
          </a:prstGeom>
          <a:noFill/>
        </p:spPr>
      </p:sp>
      <p:sp>
        <p:nvSpPr>
          <p:cNvPr id="50" name="Shape 48"/>
          <p:cNvSpPr/>
          <p:nvPr/>
        </p:nvSpPr>
        <p:spPr>
          <a:xfrm>
            <a:off x="8549640" y="3611880"/>
            <a:ext cx="365760" cy="0"/>
          </a:xfrm>
          <a:prstGeom prst="rect">
            <a:avLst/>
          </a:prstGeom>
          <a:noFill/>
        </p:spPr>
      </p:sp>
      <p:sp>
        <p:nvSpPr>
          <p:cNvPr id="51" name="Shape 49"/>
          <p:cNvSpPr/>
          <p:nvPr/>
        </p:nvSpPr>
        <p:spPr>
          <a:xfrm>
            <a:off x="228600" y="3904488"/>
            <a:ext cx="8686800" cy="896112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52" name="Shape 50"/>
          <p:cNvSpPr/>
          <p:nvPr/>
        </p:nvSpPr>
        <p:spPr>
          <a:xfrm>
            <a:off x="228600" y="3904488"/>
            <a:ext cx="64008" cy="89611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3" name="Text 51"/>
          <p:cNvSpPr/>
          <p:nvPr/>
        </p:nvSpPr>
        <p:spPr>
          <a:xfrm>
            <a:off x="411480" y="39502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Verdict &amp; Strategy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4160520"/>
            <a:ext cx="84124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Day delivery is profitable (50.84% margin) but limited in volume (only 5,036 orders vs 24,746 Standard). It represents an underutilized premium channel. Recommended: Apply premium price markup to Same Day orders, focus expansion in South &amp; West regions (lower ship costs), and shift mid-urgency orders from Express to Next Day (lowest avg cost at ₹69.67) to save ₹35K+ annually.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9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25907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Data-Backed Strategic 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12801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73152" cy="12801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Shape 6"/>
          <p:cNvSpPr/>
          <p:nvPr/>
        </p:nvSpPr>
        <p:spPr>
          <a:xfrm>
            <a:off x="411480" y="841248"/>
            <a:ext cx="502920" cy="502920"/>
          </a:xfrm>
          <a:prstGeom prst="ellipse">
            <a:avLst/>
          </a:prstGeom>
          <a:solidFill>
            <a:srgbClr val="EF4444">
              <a:alpha val="3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11480" y="905256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84124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High Shipping Cost Orders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HIGH PRIORITY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131673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Review 24,387 High Shipping Alert orders — 48.77% of all transactions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159105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Identify SKUs where Shipping Cost &gt; 15% of Sale Price and negotiate carrier rates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0" y="932688"/>
            <a:ext cx="2103120" cy="86868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675120" y="97840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Expected Impact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0" y="12070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Potential ₹5L+ net profit recovery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167128"/>
            <a:ext cx="8686800" cy="12801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67128"/>
            <a:ext cx="73152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Shape 17"/>
          <p:cNvSpPr/>
          <p:nvPr/>
        </p:nvSpPr>
        <p:spPr>
          <a:xfrm>
            <a:off x="411480" y="2258568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11480" y="2322576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25856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 Same Day Delivery Pricing &amp; Expansion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25146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MEDIUM PRIORITY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273405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Same Day has a 50.84% profit margin — apply 15–20% premium price uplift to capture value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300837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Expand Same Day exclusively in South (best net profit) and West (lowest ship cost) regions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0" y="2350008"/>
            <a:ext cx="2103120" cy="868680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675120" y="239572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Expected Impact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0" y="262432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 premium = ₹5.78L additional revenue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584448"/>
            <a:ext cx="8686800" cy="128016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584448"/>
            <a:ext cx="73152" cy="1280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" name="Shape 28"/>
          <p:cNvSpPr/>
          <p:nvPr/>
        </p:nvSpPr>
        <p:spPr>
          <a:xfrm>
            <a:off x="411480" y="3675888"/>
            <a:ext cx="502920" cy="502920"/>
          </a:xfrm>
          <a:prstGeom prst="ellipse">
            <a:avLst/>
          </a:prstGeom>
          <a:solidFill>
            <a:srgbClr val="10B981">
              <a:alpha val="3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411480" y="3739896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6758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Franchise Channel Profitability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5840" y="393192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STRATEGIC PRIORITY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" y="415137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Franchise generates only ₹56.06L revenue (14.75% of total) vs Physical Store's ₹191.69L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05840" y="442569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Franchise Net Profit (₹23.44L) is 73% lower than Online (₹60.13L) on 2.4x less revenue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83680" y="3767328"/>
            <a:ext cx="2103120" cy="868680"/>
          </a:xfrm>
          <a:prstGeom prst="rect">
            <a:avLst/>
          </a:prstGeom>
          <a:solidFill>
            <a:srgbClr val="10B981">
              <a:alpha val="15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675120" y="381304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Expected Impact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404164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 franchise margin improvement = ₹2.34L gain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4919472"/>
            <a:ext cx="8686800" cy="0"/>
          </a:xfrm>
          <a:prstGeom prst="rect">
            <a:avLst/>
          </a:prstGeom>
          <a:noFill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320040" y="2743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&amp; Future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Logistics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1480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41148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9" name="Text 7"/>
          <p:cNvSpPr/>
          <p:nvPr/>
        </p:nvSpPr>
        <p:spPr>
          <a:xfrm>
            <a:off x="457200" y="182880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Shipping is Stable, Not Optimal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794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9.23% shipping ratio is manageable but 48.8% HIGH ALERT orders signal untapped savings potential.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11480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91640"/>
            <a:ext cx="41148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3" name="Text 11"/>
          <p:cNvSpPr/>
          <p:nvPr/>
        </p:nvSpPr>
        <p:spPr>
          <a:xfrm>
            <a:off x="4892040" y="182880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  Physical Store is 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130552"/>
            <a:ext cx="3794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Store drives 50.4% of revenue &amp; ₹97.5L profit. Online follows with 50.8% margin — a strong digital channel.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1480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41148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Text 15"/>
          <p:cNvSpPr/>
          <p:nvPr/>
        </p:nvSpPr>
        <p:spPr>
          <a:xfrm>
            <a:off x="457200" y="310896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  South is the Golden Region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10712"/>
            <a:ext cx="3794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South region delivers highest net profit (₹41.86L). Central is the pain point — most expensive shipping, weakest returns.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097280"/>
          </a:xfrm>
          <a:prstGeom prst="rect">
            <a:avLst/>
          </a:prstGeom>
          <a:solidFill>
            <a:srgbClr val="2D1B69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41148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1" name="Text 19"/>
          <p:cNvSpPr/>
          <p:nvPr/>
        </p:nvSpPr>
        <p:spPr>
          <a:xfrm>
            <a:off x="4892040" y="310896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Future Strategy: Precision Logistics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10712"/>
            <a:ext cx="3794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Same Day pricing + Next Day promotion + SKU-level shipping review = ₹12L+ annual savings.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7C3AED">
              <a:alpha val="85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502920" y="441655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 ·  SuperMart Logistics &amp; Operations Analysis  ·  Case Study 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</p:spPr>
      </p:sp>
      <p:sp>
        <p:nvSpPr>
          <p:cNvPr id="3" name="AccentLine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itle"/>
          <p:cNvSpPr/>
          <p:nvPr/>
        </p:nvSpPr>
        <p:spPr>
          <a:xfrm>
            <a:off x="227965" y="0"/>
            <a:ext cx="60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SuperMart — Executive Dashboard</a:t>
            </a:r>
            <a:endParaRPr lang="en-US" sz="24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Subtitle"/>
          <p:cNvSpPr/>
          <p:nvPr/>
        </p:nvSpPr>
        <p:spPr>
          <a:xfrm>
            <a:off x="320040" y="320150"/>
            <a:ext cx="5000000" cy="1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200" b="0" dirty="0">
                <a:solidFill>
                  <a:srgbClr val="A78BFA"/>
                </a:solidFill>
                <a:latin typeface="Calibri" panose="020F0502020204030204"/>
              </a:rPr>
              <a:t>Logistics &amp; Operations | Shipping Cost Optimization | FY 2022–2024</a:t>
            </a:r>
            <a:endParaRPr lang="en-US" sz="12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10" name="KPI1Bg"/>
          <p:cNvSpPr/>
          <p:nvPr/>
        </p:nvSpPr>
        <p:spPr>
          <a:xfrm>
            <a:off x="228600" y="594360"/>
            <a:ext cx="1562100" cy="548640"/>
          </a:xfrm>
          <a:prstGeom prst="rect">
            <a:avLst/>
          </a:prstGeom>
          <a:solidFill>
            <a:srgbClr val="1E1040"/>
          </a:solidFill>
        </p:spPr>
      </p:sp>
      <p:sp>
        <p:nvSpPr>
          <p:cNvPr id="11" name="KPI1Accent"/>
          <p:cNvSpPr/>
          <p:nvPr/>
        </p:nvSpPr>
        <p:spPr>
          <a:xfrm>
            <a:off x="228600" y="594360"/>
            <a:ext cx="156210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KPI1Text"/>
          <p:cNvSpPr/>
          <p:nvPr/>
        </p:nvSpPr>
        <p:spPr>
          <a:xfrm>
            <a:off x="228600" y="640080"/>
            <a:ext cx="1562100" cy="502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/>
              </a:rPr>
              <a:t>50,000</a:t>
            </a:r>
            <a:endParaRPr lang="en-US" sz="28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1100" b="0" dirty="0">
                <a:solidFill>
                  <a:srgbClr val="A78BFA"/>
                </a:solidFill>
                <a:latin typeface="Calibri" panose="020F0502020204030204"/>
              </a:rPr>
              <a:t>Total Orders</a:t>
            </a:r>
            <a:endParaRPr lang="en-US" sz="11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20" name="KPI2Bg"/>
          <p:cNvSpPr/>
          <p:nvPr/>
        </p:nvSpPr>
        <p:spPr>
          <a:xfrm>
            <a:off x="1844700" y="594360"/>
            <a:ext cx="1562100" cy="548640"/>
          </a:xfrm>
          <a:prstGeom prst="rect">
            <a:avLst/>
          </a:prstGeom>
          <a:solidFill>
            <a:srgbClr val="1E1040"/>
          </a:solidFill>
        </p:spPr>
      </p:sp>
      <p:sp>
        <p:nvSpPr>
          <p:cNvPr id="21" name="KPI2Accent"/>
          <p:cNvSpPr/>
          <p:nvPr/>
        </p:nvSpPr>
        <p:spPr>
          <a:xfrm>
            <a:off x="1844700" y="594360"/>
            <a:ext cx="156210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2" name="KPI2Text"/>
          <p:cNvSpPr/>
          <p:nvPr/>
        </p:nvSpPr>
        <p:spPr>
          <a:xfrm>
            <a:off x="1844700" y="640080"/>
            <a:ext cx="1562100" cy="502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/>
              </a:rPr>
              <a:t>₹3.80 Cr</a:t>
            </a:r>
            <a:endParaRPr lang="en-US" sz="28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1100" b="0" dirty="0">
                <a:solidFill>
                  <a:srgbClr val="A78BFA"/>
                </a:solidFill>
                <a:latin typeface="Calibri" panose="020F0502020204030204"/>
              </a:rPr>
              <a:t>Total Revenue</a:t>
            </a:r>
            <a:endParaRPr lang="en-US" sz="11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30" name="KPI3Bg"/>
          <p:cNvSpPr/>
          <p:nvPr/>
        </p:nvSpPr>
        <p:spPr>
          <a:xfrm>
            <a:off x="3460800" y="594360"/>
            <a:ext cx="1562100" cy="548640"/>
          </a:xfrm>
          <a:prstGeom prst="rect">
            <a:avLst/>
          </a:prstGeom>
          <a:solidFill>
            <a:srgbClr val="1E1040"/>
          </a:solidFill>
        </p:spPr>
      </p:sp>
      <p:sp>
        <p:nvSpPr>
          <p:cNvPr id="31" name="KPI3Accent"/>
          <p:cNvSpPr/>
          <p:nvPr/>
        </p:nvSpPr>
        <p:spPr>
          <a:xfrm>
            <a:off x="3460800" y="594360"/>
            <a:ext cx="15621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KPI3Text"/>
          <p:cNvSpPr/>
          <p:nvPr/>
        </p:nvSpPr>
        <p:spPr>
          <a:xfrm>
            <a:off x="3460800" y="640080"/>
            <a:ext cx="1562100" cy="502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/>
              </a:rPr>
              <a:t>₹1.58 Cr</a:t>
            </a:r>
            <a:endParaRPr lang="en-US" sz="28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1100" b="0" dirty="0">
                <a:solidFill>
                  <a:srgbClr val="A78BFA"/>
                </a:solidFill>
                <a:latin typeface="Calibri" panose="020F0502020204030204"/>
              </a:rPr>
              <a:t>Net Profit</a:t>
            </a:r>
            <a:endParaRPr lang="en-US" sz="11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40" name="KPI4Bg"/>
          <p:cNvSpPr/>
          <p:nvPr/>
        </p:nvSpPr>
        <p:spPr>
          <a:xfrm>
            <a:off x="5076900" y="594360"/>
            <a:ext cx="1562100" cy="548640"/>
          </a:xfrm>
          <a:prstGeom prst="rect">
            <a:avLst/>
          </a:prstGeom>
          <a:solidFill>
            <a:srgbClr val="1E1040"/>
          </a:solidFill>
        </p:spPr>
      </p:sp>
      <p:sp>
        <p:nvSpPr>
          <p:cNvPr id="41" name="KPI4Accent"/>
          <p:cNvSpPr/>
          <p:nvPr/>
        </p:nvSpPr>
        <p:spPr>
          <a:xfrm>
            <a:off x="5076900" y="594360"/>
            <a:ext cx="156210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KPI4Text"/>
          <p:cNvSpPr/>
          <p:nvPr/>
        </p:nvSpPr>
        <p:spPr>
          <a:xfrm>
            <a:off x="5076900" y="640080"/>
            <a:ext cx="1562100" cy="502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/>
              </a:rPr>
              <a:t>₹35.09 L</a:t>
            </a:r>
            <a:endParaRPr lang="en-US" sz="28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1100" b="0" dirty="0">
                <a:solidFill>
                  <a:srgbClr val="A78BFA"/>
                </a:solidFill>
                <a:latin typeface="Calibri" panose="020F0502020204030204"/>
              </a:rPr>
              <a:t>Total Shipping Cost</a:t>
            </a:r>
            <a:endParaRPr lang="en-US" sz="11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50" name="KPI5Bg"/>
          <p:cNvSpPr/>
          <p:nvPr/>
        </p:nvSpPr>
        <p:spPr>
          <a:xfrm>
            <a:off x="6693000" y="594360"/>
            <a:ext cx="2223000" cy="548640"/>
          </a:xfrm>
          <a:prstGeom prst="rect">
            <a:avLst/>
          </a:prstGeom>
          <a:solidFill>
            <a:srgbClr val="1E1040"/>
          </a:solidFill>
        </p:spPr>
      </p:sp>
      <p:sp>
        <p:nvSpPr>
          <p:cNvPr id="51" name="KPI5Accent"/>
          <p:cNvSpPr/>
          <p:nvPr/>
        </p:nvSpPr>
        <p:spPr>
          <a:xfrm>
            <a:off x="6693000" y="594360"/>
            <a:ext cx="2223000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2" name="KPI5Text"/>
          <p:cNvSpPr/>
          <p:nvPr/>
        </p:nvSpPr>
        <p:spPr>
          <a:xfrm>
            <a:off x="6693000" y="640080"/>
            <a:ext cx="2223000" cy="502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/>
              </a:rPr>
              <a:t>9.23%</a:t>
            </a:r>
            <a:endParaRPr lang="en-US" sz="28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1100" b="0" dirty="0">
                <a:solidFill>
                  <a:srgbClr val="A78BFA"/>
                </a:solidFill>
                <a:latin typeface="Calibri" panose="020F0502020204030204"/>
              </a:rPr>
              <a:t>Ship Cost Ratio</a:t>
            </a:r>
            <a:endParaRPr lang="en-US" sz="11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60" name="StoreHeader"/>
          <p:cNvSpPr/>
          <p:nvPr/>
        </p:nvSpPr>
        <p:spPr>
          <a:xfrm>
            <a:off x="230505" y="1290320"/>
            <a:ext cx="4160520" cy="182880"/>
          </a:xfrm>
          <a:prstGeom prst="rect">
            <a:avLst/>
          </a:prstGeom>
          <a:solidFill>
            <a:srgbClr val="2D1B69"/>
          </a:soli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🏪  Store Type Performance</a:t>
            </a:r>
            <a:endParaRPr lang="en-US" sz="1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1" name="StoreRow1Bg"/>
          <p:cNvSpPr/>
          <p:nvPr/>
        </p:nvSpPr>
        <p:spPr>
          <a:xfrm>
            <a:off x="230505" y="147320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Physical Store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₹191.69L Rev  ·  ₹97.52L Profit  ·  ₹87.75L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62" name="StoreRow2Bg"/>
          <p:cNvSpPr/>
          <p:nvPr/>
        </p:nvSpPr>
        <p:spPr>
          <a:xfrm>
            <a:off x="230505" y="1656080"/>
            <a:ext cx="4160520" cy="18288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06B6D4"/>
                </a:solidFill>
                <a:latin typeface="Calibri" panose="020F0502020204030204"/>
              </a:rPr>
              <a:t>Online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₹132.26L Rev  ·  ₹67.26L Profit  ·  50.81% Margin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63" name="StoreRow3Bg"/>
          <p:cNvSpPr/>
          <p:nvPr/>
        </p:nvSpPr>
        <p:spPr>
          <a:xfrm>
            <a:off x="230505" y="183896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59E0B"/>
                </a:solidFill>
                <a:latin typeface="Calibri" panose="020F0502020204030204"/>
              </a:rPr>
              <a:t>Franchise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₹56.06L Rev  ·  ₹26.59L Profit  ·  ₹23.44L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70" name="ShipHeader"/>
          <p:cNvSpPr/>
          <p:nvPr/>
        </p:nvSpPr>
        <p:spPr>
          <a:xfrm>
            <a:off x="4756425" y="1290320"/>
            <a:ext cx="4160520" cy="182880"/>
          </a:xfrm>
          <a:prstGeom prst="rect">
            <a:avLst/>
          </a:prstGeom>
          <a:solidFill>
            <a:srgbClr val="2D1B69"/>
          </a:soli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📦  Shipping Mode Performance</a:t>
            </a:r>
            <a:endParaRPr lang="en-US" sz="1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ShipRow1"/>
          <p:cNvSpPr/>
          <p:nvPr/>
        </p:nvSpPr>
        <p:spPr>
          <a:xfrm>
            <a:off x="4756425" y="147320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Standard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24,746 orders  ·  ₹70.29 avg  ·  ₹79.16L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72" name="ShipRow2"/>
          <p:cNvSpPr/>
          <p:nvPr/>
        </p:nvSpPr>
        <p:spPr>
          <a:xfrm>
            <a:off x="4756425" y="1656080"/>
            <a:ext cx="4160520" cy="18288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06B6D4"/>
                </a:solidFill>
                <a:latin typeface="Calibri" panose="020F0502020204030204"/>
              </a:rPr>
              <a:t>Express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12,681 orders  ·  ₹70.17 avg  ·  ₹40.12L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73" name="ShipRow3"/>
          <p:cNvSpPr/>
          <p:nvPr/>
        </p:nvSpPr>
        <p:spPr>
          <a:xfrm>
            <a:off x="4756425" y="183896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10B981"/>
                </a:solidFill>
                <a:latin typeface="Calibri" panose="020F0502020204030204"/>
              </a:rPr>
              <a:t>Next Day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7,537 orders  ·  ₹69.67 avg  ·  ₹23.90L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74" name="ShipRow4"/>
          <p:cNvSpPr/>
          <p:nvPr/>
        </p:nvSpPr>
        <p:spPr>
          <a:xfrm>
            <a:off x="4756425" y="2021840"/>
            <a:ext cx="4160520" cy="18288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59E0B"/>
                </a:solidFill>
                <a:latin typeface="Calibri" panose="020F0502020204030204"/>
              </a:rPr>
              <a:t>Same Day</a:t>
            </a:r>
            <a:r>
              <a:rPr lang="en-US" sz="1000" b="0" dirty="0">
                <a:solidFill>
                  <a:srgbClr val="A78BFA"/>
                </a:solidFill>
                <a:latin typeface="Calibri" panose="020F0502020204030204"/>
              </a:rPr>
              <a:t>    5,036 orders  ·  ₹70.41 avg  ·  ₹16.05L net</a:t>
            </a:r>
            <a:endParaRPr lang="en-US" sz="10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80" name="RegionalHeader"/>
          <p:cNvSpPr/>
          <p:nvPr/>
        </p:nvSpPr>
        <p:spPr>
          <a:xfrm>
            <a:off x="227965" y="2204720"/>
            <a:ext cx="4160520" cy="182880"/>
          </a:xfrm>
          <a:prstGeom prst="rect">
            <a:avLst/>
          </a:prstGeom>
          <a:solidFill>
            <a:srgbClr val="2D1B69"/>
          </a:soli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🗺  Regional Shipping Overview</a:t>
            </a:r>
            <a:endParaRPr lang="en-US" sz="1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1" name="RegRow1"/>
          <p:cNvSpPr/>
          <p:nvPr/>
        </p:nvSpPr>
        <p:spPr>
          <a:xfrm>
            <a:off x="227965" y="2387600"/>
            <a:ext cx="4160520" cy="16056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950" b="1" dirty="0">
                <a:solidFill>
                  <a:srgbClr val="EF4444"/>
                </a:solidFill>
                <a:latin typeface="Calibri" panose="020F0502020204030204"/>
              </a:rPr>
              <a:t>Central  🔴</a:t>
            </a:r>
            <a:r>
              <a:rPr lang="en-US" sz="950" b="0" dirty="0">
                <a:solidFill>
                  <a:srgbClr val="A78BFA"/>
                </a:solidFill>
                <a:latin typeface="Calibri" panose="020F0502020204030204"/>
              </a:rPr>
              <a:t>    ₹70.52 avg ship  ·  ₹16.66L net profit</a:t>
            </a:r>
            <a:endParaRPr lang="en-US" sz="95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82" name="RegRow2"/>
          <p:cNvSpPr/>
          <p:nvPr/>
        </p:nvSpPr>
        <p:spPr>
          <a:xfrm>
            <a:off x="227965" y="2548160"/>
            <a:ext cx="4160520" cy="16056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950" b="1" dirty="0">
                <a:solidFill>
                  <a:srgbClr val="10B981"/>
                </a:solidFill>
                <a:latin typeface="Calibri" panose="020F0502020204030204"/>
              </a:rPr>
              <a:t>South  🏆</a:t>
            </a:r>
            <a:r>
              <a:rPr lang="en-US" sz="950" b="0" dirty="0">
                <a:solidFill>
                  <a:srgbClr val="A78BFA"/>
                </a:solidFill>
                <a:latin typeface="Calibri" panose="020F0502020204030204"/>
              </a:rPr>
              <a:t>    Best Net Profit  ·  ₹41.86L net profit</a:t>
            </a:r>
            <a:endParaRPr lang="en-US" sz="95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83" name="RegRow3"/>
          <p:cNvSpPr/>
          <p:nvPr/>
        </p:nvSpPr>
        <p:spPr>
          <a:xfrm>
            <a:off x="227965" y="2708720"/>
            <a:ext cx="4160520" cy="16056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East</a:t>
            </a:r>
            <a:r>
              <a:rPr lang="en-US" sz="950" b="0" dirty="0">
                <a:solidFill>
                  <a:srgbClr val="A78BFA"/>
                </a:solidFill>
                <a:latin typeface="Calibri" panose="020F0502020204030204"/>
              </a:rPr>
              <a:t>    ₹70.18 avg ship  ·  ₹26.01L net profit</a:t>
            </a:r>
            <a:endParaRPr lang="en-US" sz="95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84" name="RegRow4"/>
          <p:cNvSpPr/>
          <p:nvPr/>
        </p:nvSpPr>
        <p:spPr>
          <a:xfrm>
            <a:off x="227965" y="2869280"/>
            <a:ext cx="4160520" cy="16056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North</a:t>
            </a:r>
            <a:r>
              <a:rPr lang="en-US" sz="950" b="0" dirty="0">
                <a:solidFill>
                  <a:srgbClr val="A78BFA"/>
                </a:solidFill>
                <a:latin typeface="Calibri" panose="020F0502020204030204"/>
              </a:rPr>
              <a:t>    ₹70.13 avg ship  ·  ₹20.60L net profit</a:t>
            </a:r>
            <a:endParaRPr lang="en-US" sz="95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85" name="RegRow5"/>
          <p:cNvSpPr/>
          <p:nvPr/>
        </p:nvSpPr>
        <p:spPr>
          <a:xfrm>
            <a:off x="227965" y="3029840"/>
            <a:ext cx="4160520" cy="16056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950" b="1" dirty="0">
                <a:solidFill>
                  <a:srgbClr val="06B6D4"/>
                </a:solidFill>
                <a:latin typeface="Calibri" panose="020F0502020204030204"/>
              </a:rPr>
              <a:t>West  ⚡</a:t>
            </a:r>
            <a:r>
              <a:rPr lang="en-US" sz="950" b="0" dirty="0">
                <a:solidFill>
                  <a:srgbClr val="A78BFA"/>
                </a:solidFill>
                <a:latin typeface="Calibri" panose="020F0502020204030204"/>
              </a:rPr>
              <a:t>    ₹69.85 avg ship (lowest)  ·  ₹33.16L net</a:t>
            </a:r>
            <a:endParaRPr lang="en-US" sz="95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90" name="AlertHeader"/>
          <p:cNvSpPr/>
          <p:nvPr/>
        </p:nvSpPr>
        <p:spPr>
          <a:xfrm>
            <a:off x="4753885" y="2204720"/>
            <a:ext cx="4160520" cy="182880"/>
          </a:xfrm>
          <a:prstGeom prst="rect">
            <a:avLst/>
          </a:prstGeom>
          <a:solidFill>
            <a:srgbClr val="2D1B69"/>
          </a:soli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🚨  Alerts &amp; Key Insights</a:t>
            </a:r>
            <a:endParaRPr lang="en-US" sz="12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1" name="Alert1"/>
          <p:cNvSpPr/>
          <p:nvPr/>
        </p:nvSpPr>
        <p:spPr>
          <a:xfrm>
            <a:off x="4753885" y="2387600"/>
            <a:ext cx="4160520" cy="182880"/>
          </a:xfrm>
          <a:prstGeom prst="rect">
            <a:avLst/>
          </a:prstGeom>
          <a:solidFill>
            <a:srgbClr val="2D0A0A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EF4444"/>
                </a:solidFill>
                <a:latin typeface="Calibri" panose="020F0502020204030204"/>
              </a:rPr>
              <a:t>🔴 HIGH ALERT: </a:t>
            </a:r>
            <a:r>
              <a:rPr lang="en-US" sz="1000" b="0" dirty="0">
                <a:solidFill>
                  <a:srgbClr val="FFFFFF"/>
                </a:solidFill>
                <a:latin typeface="Calibri" panose="020F0502020204030204"/>
              </a:rPr>
              <a:t>48.77% orders (24,387) Ship &gt; 15% of Sale</a:t>
            </a:r>
            <a:endParaRPr lang="en-US" sz="1000" b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" name="Alert2"/>
          <p:cNvSpPr/>
          <p:nvPr/>
        </p:nvSpPr>
        <p:spPr>
          <a:xfrm>
            <a:off x="4754520" y="256032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59E0B"/>
                </a:solidFill>
                <a:latin typeface="Calibri" panose="020F0502020204030204"/>
              </a:rPr>
              <a:t>⚠ AVG SHIP: </a:t>
            </a:r>
            <a:r>
              <a:rPr lang="en-US" sz="1000" b="0" dirty="0">
                <a:solidFill>
                  <a:srgbClr val="FFFFFF"/>
                </a:solidFill>
                <a:latin typeface="Calibri" panose="020F0502020204030204"/>
              </a:rPr>
              <a:t>₹70.18/order  |  Peak Month: August ₹3.06L</a:t>
            </a:r>
            <a:endParaRPr lang="en-US" sz="1000" b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" name="Alert3"/>
          <p:cNvSpPr/>
          <p:nvPr/>
        </p:nvSpPr>
        <p:spPr>
          <a:xfrm>
            <a:off x="4753885" y="2753360"/>
            <a:ext cx="4160520" cy="182880"/>
          </a:xfrm>
          <a:prstGeom prst="rect">
            <a:avLst/>
          </a:prstGeom>
          <a:solidFill>
            <a:srgbClr val="160D35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10B981"/>
                </a:solidFill>
                <a:latin typeface="Calibri" panose="020F0502020204030204"/>
              </a:rPr>
              <a:t>📈 OPPORTUNITY: </a:t>
            </a:r>
            <a:r>
              <a:rPr lang="en-US" sz="1000" b="0" dirty="0">
                <a:solidFill>
                  <a:srgbClr val="FFFFFF"/>
                </a:solidFill>
                <a:latin typeface="Calibri" panose="020F0502020204030204"/>
              </a:rPr>
              <a:t>Same Day 50.84% margin — underutilized premium</a:t>
            </a:r>
            <a:endParaRPr lang="en-US" sz="1000" b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" name="Alert4"/>
          <p:cNvSpPr/>
          <p:nvPr/>
        </p:nvSpPr>
        <p:spPr>
          <a:xfrm>
            <a:off x="4753885" y="2936240"/>
            <a:ext cx="4160520" cy="182880"/>
          </a:xfrm>
          <a:prstGeom prst="rect">
            <a:avLst/>
          </a:prstGeom>
          <a:solidFill>
            <a:srgbClr val="1E1040"/>
          </a:solidFill>
        </p:spPr>
        <p:txBody>
          <a:bodyPr anchor="ctr"/>
          <a:lstStyle/>
          <a:p>
            <a:pPr marL="91440" algn="l"/>
            <a:r>
              <a:rPr lang="en-US" sz="1000" b="1" dirty="0">
                <a:solidFill>
                  <a:srgbClr val="F59E0B"/>
                </a:solidFill>
                <a:latin typeface="Calibri" panose="020F0502020204030204"/>
              </a:rPr>
              <a:t>📋 FRANCHISE: </a:t>
            </a:r>
            <a:r>
              <a:rPr lang="en-US" sz="1000" b="0" dirty="0">
                <a:solidFill>
                  <a:srgbClr val="FFFFFF"/>
                </a:solidFill>
                <a:latin typeface="Calibri" panose="020F0502020204030204"/>
              </a:rPr>
              <a:t>Only 14.75% of revenue — needs margin review</a:t>
            </a:r>
            <a:endParaRPr lang="en-US" sz="1000" b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" name="BottomStrip"/>
          <p:cNvSpPr/>
          <p:nvPr/>
        </p:nvSpPr>
        <p:spPr>
          <a:xfrm>
            <a:off x="0" y="3245040"/>
            <a:ext cx="914400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01" name="BottomBg"/>
          <p:cNvSpPr/>
          <p:nvPr/>
        </p:nvSpPr>
        <p:spPr>
          <a:xfrm>
            <a:off x="0" y="3628390"/>
            <a:ext cx="9144000" cy="1515110"/>
          </a:xfrm>
          <a:prstGeom prst="rect">
            <a:avLst/>
          </a:prstGeom>
          <a:solidFill>
            <a:srgbClr val="1A0D40"/>
          </a:solidFill>
        </p:spPr>
      </p:sp>
      <p:sp>
        <p:nvSpPr>
          <p:cNvPr id="102" name="StrategicTitle"/>
          <p:cNvSpPr/>
          <p:nvPr/>
        </p:nvSpPr>
        <p:spPr>
          <a:xfrm>
            <a:off x="227965" y="3585845"/>
            <a:ext cx="8688705" cy="42799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A78BFA"/>
                </a:solidFill>
                <a:latin typeface="Calibri" panose="020F0502020204030204"/>
              </a:rPr>
              <a:t>🎯  Strategic Recommendations</a:t>
            </a:r>
            <a:endParaRPr lang="en-US" sz="1300" b="1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103" name="Rec1Bg"/>
          <p:cNvSpPr/>
          <p:nvPr/>
        </p:nvSpPr>
        <p:spPr>
          <a:xfrm>
            <a:off x="227965" y="4175010"/>
            <a:ext cx="2743200" cy="548640"/>
          </a:xfrm>
          <a:prstGeom prst="rect">
            <a:avLst/>
          </a:prstGeom>
          <a:solidFill>
            <a:srgbClr val="2D0A0A"/>
          </a:solidFill>
        </p:spPr>
      </p:sp>
      <p:sp>
        <p:nvSpPr>
          <p:cNvPr id="104" name="Rec1Acc"/>
          <p:cNvSpPr/>
          <p:nvPr/>
        </p:nvSpPr>
        <p:spPr>
          <a:xfrm>
            <a:off x="227965" y="4054995"/>
            <a:ext cx="274320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5" name="Rec1Text"/>
          <p:cNvSpPr/>
          <p:nvPr/>
        </p:nvSpPr>
        <p:spPr>
          <a:xfrm>
            <a:off x="229235" y="4211586"/>
            <a:ext cx="2743200" cy="512064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EF4444"/>
                </a:solidFill>
                <a:latin typeface="Calibri" panose="020F0502020204030204"/>
              </a:rPr>
              <a:t>01 — HIGH PRIORITY</a:t>
            </a:r>
            <a:endParaRPr lang="en-US" sz="1100" b="1" dirty="0">
              <a:solidFill>
                <a:srgbClr val="EF4444"/>
              </a:solidFill>
              <a:latin typeface="Calibri" panose="020F0502020204030204"/>
            </a:endParaRP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Reduce High Shipping Alerts</a:t>
            </a:r>
            <a:endParaRPr lang="en-US" sz="10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900" b="0" dirty="0">
                <a:solidFill>
                  <a:srgbClr val="A78BFA"/>
                </a:solidFill>
                <a:latin typeface="Calibri" panose="020F0502020204030204"/>
              </a:rPr>
              <a:t>SKU-level review · ₹5L+ recovery</a:t>
            </a:r>
            <a:endParaRPr lang="en-US" sz="9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106" name="Rec2Bg"/>
          <p:cNvSpPr/>
          <p:nvPr/>
        </p:nvSpPr>
        <p:spPr>
          <a:xfrm>
            <a:off x="3199765" y="4175010"/>
            <a:ext cx="2743200" cy="548640"/>
          </a:xfrm>
          <a:prstGeom prst="rect">
            <a:avLst/>
          </a:prstGeom>
          <a:solidFill>
            <a:srgbClr val="1C2A10"/>
          </a:solidFill>
        </p:spPr>
      </p:sp>
      <p:sp>
        <p:nvSpPr>
          <p:cNvPr id="107" name="Rec2Acc"/>
          <p:cNvSpPr/>
          <p:nvPr/>
        </p:nvSpPr>
        <p:spPr>
          <a:xfrm>
            <a:off x="3199765" y="4054995"/>
            <a:ext cx="274320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8" name="Rec2Text"/>
          <p:cNvSpPr/>
          <p:nvPr/>
        </p:nvSpPr>
        <p:spPr>
          <a:xfrm>
            <a:off x="3201035" y="4211586"/>
            <a:ext cx="2743200" cy="512064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10B981"/>
                </a:solidFill>
                <a:latin typeface="Calibri" panose="020F0502020204030204"/>
              </a:rPr>
              <a:t>02 — MEDIUM PRIORITY</a:t>
            </a:r>
            <a:endParaRPr lang="en-US" sz="1100" b="1" dirty="0">
              <a:solidFill>
                <a:srgbClr val="10B981"/>
              </a:solidFill>
              <a:latin typeface="Calibri" panose="020F0502020204030204"/>
            </a:endParaRP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Optimise Same Day Pricing</a:t>
            </a:r>
            <a:endParaRPr lang="en-US" sz="10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900" b="0" dirty="0">
                <a:solidFill>
                  <a:srgbClr val="A78BFA"/>
                </a:solidFill>
                <a:latin typeface="Calibri" panose="020F0502020204030204"/>
              </a:rPr>
              <a:t>15-20% premium uplift · ₹5.78L gain</a:t>
            </a:r>
            <a:endParaRPr lang="en-US" sz="900" b="0" dirty="0">
              <a:solidFill>
                <a:srgbClr val="A78BFA"/>
              </a:solidFill>
              <a:latin typeface="Calibri" panose="020F0502020204030204"/>
            </a:endParaRPr>
          </a:p>
        </p:txBody>
      </p:sp>
      <p:sp>
        <p:nvSpPr>
          <p:cNvPr id="109" name="Rec3Bg"/>
          <p:cNvSpPr/>
          <p:nvPr/>
        </p:nvSpPr>
        <p:spPr>
          <a:xfrm>
            <a:off x="6171565" y="4175010"/>
            <a:ext cx="2743200" cy="548640"/>
          </a:xfrm>
          <a:prstGeom prst="rect">
            <a:avLst/>
          </a:prstGeom>
          <a:solidFill>
            <a:srgbClr val="1C1A0A"/>
          </a:solidFill>
        </p:spPr>
      </p:sp>
      <p:sp>
        <p:nvSpPr>
          <p:cNvPr id="110" name="Rec3Acc"/>
          <p:cNvSpPr/>
          <p:nvPr/>
        </p:nvSpPr>
        <p:spPr>
          <a:xfrm>
            <a:off x="6171565" y="4054995"/>
            <a:ext cx="27432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1" name="Rec3Text"/>
          <p:cNvSpPr/>
          <p:nvPr/>
        </p:nvSpPr>
        <p:spPr>
          <a:xfrm>
            <a:off x="6172835" y="4211586"/>
            <a:ext cx="2743200" cy="512064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59E0B"/>
                </a:solidFill>
                <a:latin typeface="Calibri" panose="020F0502020204030204"/>
              </a:rPr>
              <a:t>03 — STRATEGIC</a:t>
            </a:r>
            <a:endParaRPr lang="en-US" sz="1100" b="1" dirty="0">
              <a:solidFill>
                <a:srgbClr val="F59E0B"/>
              </a:solidFill>
              <a:latin typeface="Calibri" panose="020F0502020204030204"/>
            </a:endParaRP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Improve Franchise Margins</a:t>
            </a:r>
            <a:endParaRPr lang="en-US" sz="1000" b="1" dirty="0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lang="en-US" sz="900" b="0" dirty="0">
                <a:solidFill>
                  <a:srgbClr val="A78BFA"/>
                </a:solidFill>
                <a:latin typeface="Calibri" panose="020F0502020204030204"/>
              </a:rPr>
              <a:t>10% margin improvement · ₹2.34L gain</a:t>
            </a:r>
            <a:endParaRPr lang="en-US" sz="900" b="0" dirty="0">
              <a:solidFill>
                <a:srgbClr val="A78BF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9538</Words>
  <Application>WPS Presentation</Application>
  <PresentationFormat>On-screen Show (16:9)</PresentationFormat>
  <Paragraphs>587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Logistics &amp; Operations Analysis</dc:title>
  <dc:creator>PptxGenJS</dc:creator>
  <dc:subject>PptxGenJS Presentation</dc:subject>
  <cp:lastModifiedBy>MADHESH_HOPE_01</cp:lastModifiedBy>
  <cp:revision>5</cp:revision>
  <dcterms:created xsi:type="dcterms:W3CDTF">2026-05-17T15:15:00Z</dcterms:created>
  <dcterms:modified xsi:type="dcterms:W3CDTF">2026-05-25T08:30:46Z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EB10B847ADB2479A987C567C6E6673B1_12</vt:lpwstr>
  </property>
  <property fmtid="{D5CDD505-2E9C-101B-9397-08002B2CF9AE}" pid="3" name="KSOProductBuildVer">
    <vt:lpwstr>1033-12.1.0.26372</vt:lpwstr>
  </property>
</Properties>
</file>